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5" r:id="rId5"/>
    <p:sldId id="319" r:id="rId6"/>
    <p:sldId id="321" r:id="rId7"/>
    <p:sldId id="322" r:id="rId8"/>
    <p:sldId id="320" r:id="rId9"/>
    <p:sldId id="307" r:id="rId10"/>
    <p:sldId id="309" r:id="rId11"/>
    <p:sldId id="323" r:id="rId12"/>
    <p:sldId id="324" r:id="rId13"/>
    <p:sldId id="325" r:id="rId14"/>
    <p:sldId id="326" r:id="rId15"/>
    <p:sldId id="327" r:id="rId16"/>
    <p:sldId id="31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2" autoAdjust="0"/>
    <p:restoredTop sz="94682"/>
  </p:normalViewPr>
  <p:slideViewPr>
    <p:cSldViewPr snapToGrid="0">
      <p:cViewPr varScale="1">
        <p:scale>
          <a:sx n="81" d="100"/>
          <a:sy n="81" d="100"/>
        </p:scale>
        <p:origin x="509" y="48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15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3/4/2026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t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Database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MySQL-Based Analysis of Hospital Performance, Cost, and Patient Outcomes .</a:t>
            </a:r>
          </a:p>
          <a:p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Sakshi Kumbhar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6F4D-424A-3B77-73E1-05C6D47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7DEA0-28B7-A935-2FC1-F9663E8E05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6392" y="1280160"/>
            <a:ext cx="10479215" cy="4998720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 </a:t>
            </a:r>
          </a:p>
          <a:p>
            <a:endParaRPr lang="en-US" sz="4000" b="1" dirty="0">
              <a:latin typeface="Georgia" panose="020405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this project, I worked on analyzing hospital data using SQL to understand revenue performance, doctor productivity, patient behavior, and operational efficiency.</a:t>
            </a:r>
          </a:p>
          <a:p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Hospitals generate a large amount of data daily — appointments, treatments, billing, and payments — but without proper analysis, it’s difficult to make informed business decisions.</a:t>
            </a:r>
          </a:p>
          <a:p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goal of this project was to convert raw hospital data into meaningful insights that could support better financial and operational decisions.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37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57AA0B-3F74-9E21-D03C-17E29681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648" y="1416304"/>
            <a:ext cx="4857256" cy="557784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209B-FB41-B5C7-3D07-1FC5F0D116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3648" y="2689720"/>
            <a:ext cx="4857256" cy="3394027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hospital management needed clarity on: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Revenue concentration across treatments and doctors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Outstanding payments impacting cash flow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Operational inefficiencies due to cancellations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Uneven doctor workload distribution</a:t>
            </a:r>
          </a:p>
          <a:p>
            <a:endParaRPr lang="en-IN" sz="200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30FDCB6-7584-BF63-E234-FBB198551FD3}"/>
              </a:ext>
            </a:extLst>
          </p:cNvPr>
          <p:cNvSpPr txBox="1">
            <a:spLocks/>
          </p:cNvSpPr>
          <p:nvPr/>
        </p:nvSpPr>
        <p:spPr>
          <a:xfrm>
            <a:off x="6493496" y="2689719"/>
            <a:ext cx="4857256" cy="3394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None/>
              <a:defRPr sz="80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Evaluate hospital revenue and billing performance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Measure doctor workload and department efficiency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Analyze treatment cost and profitability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Assess patient outcomes and repeat visits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Support data-driven decision-making for hospital management</a:t>
            </a:r>
          </a:p>
          <a:p>
            <a:endParaRPr lang="en-IN" sz="20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E909864F-96E5-E5E4-FF98-886BBD718B48}"/>
              </a:ext>
            </a:extLst>
          </p:cNvPr>
          <p:cNvSpPr txBox="1">
            <a:spLocks/>
          </p:cNvSpPr>
          <p:nvPr/>
        </p:nvSpPr>
        <p:spPr>
          <a:xfrm>
            <a:off x="6493496" y="1416304"/>
            <a:ext cx="4857256" cy="55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10063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AB8F4-2415-01F3-6432-B8A57974A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68" y="430050"/>
            <a:ext cx="9975863" cy="599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0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4A9B8-B1FE-E7A7-4884-13444A9F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26D5-5AC2-D71B-121D-58FF902ADF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1413" y="1068583"/>
            <a:ext cx="10710987" cy="650449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TABLE CONNECTIONS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201332F-120B-739C-525D-2F27D5B4A254}"/>
              </a:ext>
            </a:extLst>
          </p:cNvPr>
          <p:cNvSpPr txBox="1">
            <a:spLocks/>
          </p:cNvSpPr>
          <p:nvPr/>
        </p:nvSpPr>
        <p:spPr>
          <a:xfrm>
            <a:off x="6850511" y="2281074"/>
            <a:ext cx="4554718" cy="3398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None/>
              <a:defRPr sz="80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Table Relationships (Data Modeling)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connect tables properly, I implemented Foreign Key constraints.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Relationship Flow: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Patients → Appointments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Doctors → Appointments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Appointments → Treatments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Treatments → Billing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D9D44C1-E009-AD5A-BB23-513A0E5D3718}"/>
              </a:ext>
            </a:extLst>
          </p:cNvPr>
          <p:cNvSpPr txBox="1">
            <a:spLocks/>
          </p:cNvSpPr>
          <p:nvPr/>
        </p:nvSpPr>
        <p:spPr>
          <a:xfrm>
            <a:off x="871413" y="2281075"/>
            <a:ext cx="5316027" cy="31831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None/>
              <a:defRPr sz="80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Updates Performed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Before analysis, I standardized and prepared the database: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Converted all ID columns to VARCHAR(50) for consistency.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Defined Primary Keys to uniquely identify each record.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Ensured no duplicate key values.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Verified data types for dates and amounts.</a:t>
            </a:r>
          </a:p>
        </p:txBody>
      </p:sp>
    </p:spTree>
    <p:extLst>
      <p:ext uri="{BB962C8B-B14F-4D97-AF65-F5344CB8AC3E}">
        <p14:creationId xmlns:p14="http://schemas.microsoft.com/office/powerpoint/2010/main" val="3041741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C977924-59BD-5973-5F80-FD2E4F76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68" y="805164"/>
            <a:ext cx="4818983" cy="54635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75DCC8-390A-16CC-87A7-0477403E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663" y="805164"/>
            <a:ext cx="5811009" cy="14813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3844C4-8C79-330F-A27B-62664CD70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662" y="2489578"/>
            <a:ext cx="5811009" cy="377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CB087B-CB5E-35C5-3AD8-D1A6E1AF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IN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 ADDRESSED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6DA25-1172-208C-2C26-5E3AF67E1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8" y="1536192"/>
            <a:ext cx="6372352" cy="5017008"/>
          </a:xfrm>
        </p:spPr>
        <p:txBody>
          <a:bodyPr numCol="1"/>
          <a:lstStyle/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the total revenue generated by the hospital?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does revenue vary month-by-month?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Which treatments generate the highest revenue?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Which doctors contribute the most to total revenue?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does revenue distribution vary across doctor specializations?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the distribution of payment statuses (Paid, Pending, Failed)?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much revenue is currently outstanding or unpaid?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Which payment methods are most frequently used by patients?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many appointments does each doctor handle?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do doctors rank in terms of revenue generation?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Are there any doctors with zero appointments (underutilization)?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Which patients visit frequently (retention indicator)?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much revenue is contributed by each insurance provider?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many appointments are being cancelled?</a:t>
            </a:r>
          </a:p>
          <a:p>
            <a:pPr marL="285750" indent="-285750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is the estimated revenue loss due to cancellations and no-shows?</a:t>
            </a:r>
          </a:p>
          <a:p>
            <a:pPr>
              <a:spcAft>
                <a:spcPts val="0"/>
              </a:spcAft>
            </a:pPr>
            <a:b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406DCF-8E6E-E60E-72E6-2ED86DAD6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2" y="425126"/>
            <a:ext cx="5492708" cy="6007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FE21CB-CAEA-2D5F-EEE7-7D7E11C5C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040" y="425126"/>
            <a:ext cx="5492708" cy="600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1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45B77F-A72E-2A5C-DF3A-ABFA3BD1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05" y="650239"/>
            <a:ext cx="5106955" cy="5750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0E05F3-32FA-888D-B664-2FDBDCE4A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60" y="650239"/>
            <a:ext cx="5696235" cy="575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4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4EF37-0677-21F1-5ABB-E6C995467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80" y="442337"/>
            <a:ext cx="5143180" cy="6007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4C3900-F4B6-83AE-AFE6-7343A632D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2337"/>
            <a:ext cx="5669280" cy="600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1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549A8-7A54-20B8-225F-D3373A62B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32376" y="2763520"/>
            <a:ext cx="7698264" cy="3011254"/>
          </a:xfrm>
        </p:spPr>
        <p:txBody>
          <a:bodyPr/>
          <a:lstStyle/>
          <a:p>
            <a:pPr marL="3600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Revenue is driven by a small group of treatments and doctors.</a:t>
            </a:r>
          </a:p>
          <a:p>
            <a:pPr marL="3600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Doctor productivity and workload are unevenly distributed.</a:t>
            </a:r>
          </a:p>
          <a:p>
            <a:pPr marL="3600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Outstanding payments are impacting cash flow.</a:t>
            </a:r>
          </a:p>
          <a:p>
            <a:pPr marL="3600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Cancellations are causing direct revenue loss.</a:t>
            </a:r>
          </a:p>
          <a:p>
            <a:pPr marL="3600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Revenue dependency exists on select insurance providers.</a:t>
            </a:r>
            <a:endParaRPr lang="en-IN" b="0" cap="none" spc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E19C84-5464-8985-41C7-74AA77B68A69}"/>
              </a:ext>
            </a:extLst>
          </p:cNvPr>
          <p:cNvSpPr txBox="1">
            <a:spLocks/>
          </p:cNvSpPr>
          <p:nvPr/>
        </p:nvSpPr>
        <p:spPr>
          <a:xfrm>
            <a:off x="1232376" y="1237489"/>
            <a:ext cx="4243864" cy="7223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ZA" sz="8000" b="0" kern="1200" spc="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KEY INSIGHTS</a:t>
            </a:r>
            <a:br>
              <a:rPr lang="en-US" sz="4000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ea typeface="Calibri Light" panose="020F03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5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62E6-AAD6-702C-6B9F-0566D91A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3" y="1624585"/>
            <a:ext cx="8302757" cy="844296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BUSINESS CONCLUSIONS</a:t>
            </a:r>
            <a:br>
              <a:rPr lang="en-US" sz="3600" b="1" dirty="0"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36023-4CDC-72D8-FAD2-7B771B7785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76523" y="2882349"/>
            <a:ext cx="6951345" cy="258762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Focus on scaling high-revenue treatments.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 doctor capacity and performance management.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Strengthen payment recovery processes.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Implement strategies to reduce cancellations.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0" cap="none" spc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Diversify revenue sources to reduce financial risk.</a:t>
            </a:r>
          </a:p>
          <a:p>
            <a:endParaRPr lang="en-US" b="0" cap="none" spc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b="0" cap="none" spc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b="0" cap="none" spc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4687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243" y="1533144"/>
            <a:ext cx="10479088" cy="4044696"/>
          </a:xfrm>
        </p:spPr>
        <p:txBody>
          <a:bodyPr/>
          <a:lstStyle/>
          <a:p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THANK</a:t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YOU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http://www.w3.org/XML/1998/namespace"/>
    <ds:schemaRef ds:uri="http://schemas.microsoft.com/office/2006/metadata/properties"/>
    <ds:schemaRef ds:uri="71af3243-3dd4-4a8d-8c0d-dd76da1f02a5"/>
    <ds:schemaRef ds:uri="http://purl.org/dc/dcmitype/"/>
    <ds:schemaRef ds:uri="http://schemas.microsoft.com/sharepoint/v3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304</TotalTime>
  <Words>482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Light</vt:lpstr>
      <vt:lpstr>Arial</vt:lpstr>
      <vt:lpstr>Calibri</vt:lpstr>
      <vt:lpstr>Calibri Light</vt:lpstr>
      <vt:lpstr>Georgia</vt:lpstr>
      <vt:lpstr>Times New Roman</vt:lpstr>
      <vt:lpstr>Wingdings</vt:lpstr>
      <vt:lpstr>Custom</vt:lpstr>
      <vt:lpstr>PowerPoint Presentation</vt:lpstr>
      <vt:lpstr>PowerPoint Presentation</vt:lpstr>
      <vt:lpstr>Problem</vt:lpstr>
      <vt:lpstr>PowerPoint Presentation</vt:lpstr>
      <vt:lpstr>PowerPoint Presentation</vt:lpstr>
      <vt:lpstr>PowerPoint Presentation</vt:lpstr>
      <vt:lpstr>KEY BUSINESS QUESTIONS ADDRESSED </vt:lpstr>
      <vt:lpstr>PowerPoint Presentation</vt:lpstr>
      <vt:lpstr>PowerPoint Presentation</vt:lpstr>
      <vt:lpstr>PowerPoint Presentation</vt:lpstr>
      <vt:lpstr>PowerPoint Presentation</vt:lpstr>
      <vt:lpstr>BUSINESS CONCLUSIONS </vt:lpstr>
      <vt:lpstr>    THANK  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Kumbhar</dc:creator>
  <cp:lastModifiedBy>Sakshi Kumbhar</cp:lastModifiedBy>
  <cp:revision>5</cp:revision>
  <dcterms:created xsi:type="dcterms:W3CDTF">2026-03-03T13:50:43Z</dcterms:created>
  <dcterms:modified xsi:type="dcterms:W3CDTF">2026-03-04T06:13:18Z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